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1554480" cy="15544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1024128"/>
            <a:ext cx="786384" cy="786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CertiChain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Tamper-Evident, Hash-Chain Based Academic Certificate Verification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Midterm Evaluation  ·  Semester V  ·  Dept. of Electronics &amp; Telecommunication Engineering, TCET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GA__   |   Backend &amp; Ledger Logic  ·  Frontend &amp; Verification Portal  ·  Research, Docs &amp; Testing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Academic Certificate Verification  |  PS-03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2W1H Model — What, Why, How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417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34440" y="1709928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hash-chain based verification system: every certificate issued is cryptographically fingerprinted and chained, so its authenticity can be checked instantly by anyone, anywhere.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432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34440" y="28803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Fake-degree fraud is an active, documented problem in India (UGC runs anti-fake-degree drives); manual verification wastes employer time and quietly erodes trust in genuine credentials.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1363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7581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34440" y="405079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issuance, the backend computes a SHA-256 fingerprint and appends it to an append-only ledger. A public portal recomputes and compares the hash on demand — no phone calls to the registrar.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457200" y="5257800"/>
            <a:ext cx="11274552" cy="960120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48640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5349240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relevance: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genuine students’ credibility · saves employers days of manual follow-up · curbs a real, ongoing fraud economy · builds public trust in Indian degrees at home and abroad.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needs this project must satisfy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D4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10896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579" y="19366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Instant, reliable checks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31520" y="33375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and recruiters need to confirm a certificate’s authenticity in seconds, not days of institutional follow-up.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2628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D4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4" name="Shape 10"/>
          <p:cNvSpPr/>
          <p:nvPr/>
        </p:nvSpPr>
        <p:spPr>
          <a:xfrm>
            <a:off x="694944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59" y="19366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records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72000" y="33375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need an audit-ready issuance trail that protects their own name and seal from misuse.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36676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D4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20" name="Shape 15"/>
          <p:cNvSpPr/>
          <p:nvPr/>
        </p:nvSpPr>
        <p:spPr>
          <a:xfrm>
            <a:off x="1078992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3539" y="19366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Student-controlled proof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412480" y="33375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need a portable credential they can share anywhere — visa offices, foreign employers, portals — that verifies itself.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problems today’s end users experience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783080"/>
            <a:ext cx="594360" cy="594360"/>
          </a:xfrm>
          <a:prstGeom prst="ellipse">
            <a:avLst/>
          </a:prstGeom>
          <a:solidFill>
            <a:srgbClr val="A6402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1925726"/>
            <a:ext cx="309067" cy="309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737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takes days to weeks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08760" y="22860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emails and physical letters to the registrar delay hiring and admissions decisions.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6364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37960" y="1783080"/>
            <a:ext cx="594360" cy="594360"/>
          </a:xfrm>
          <a:prstGeom prst="ellipse">
            <a:avLst/>
          </a:prstGeom>
          <a:solidFill>
            <a:srgbClr val="A6402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192572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737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Forgery goes undetected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315200" y="22860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have no way to catch a certificate forged in their name until an external audit or scandal surfaces it.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31520" y="4160520"/>
            <a:ext cx="594360" cy="594360"/>
          </a:xfrm>
          <a:prstGeom prst="ellipse">
            <a:avLst/>
          </a:prstGeom>
          <a:solidFill>
            <a:srgbClr val="A6402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430316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1148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even for genuine alumni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508760" y="466344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offices and foreign employers put real graduates through the same manual back-and-forth as everyone else.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6364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37960" y="4160520"/>
            <a:ext cx="594360" cy="594360"/>
          </a:xfrm>
          <a:prstGeom prst="ellipse">
            <a:avLst/>
          </a:prstGeom>
          <a:solidFill>
            <a:srgbClr val="A6402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606" y="4303166"/>
            <a:ext cx="309067" cy="30906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1148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“Digital” isn’t secure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315200" y="466344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current verification is just a scanned PDF or photo — itself trivially editable, with no cryptographic backing.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3W Model — When, Where, Who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B2A4A"/>
          </a:solidFill>
          <a:ln/>
        </p:spPr>
      </p:sp>
      <p:sp>
        <p:nvSpPr>
          <p:cNvPr id="7" name="Shape 4"/>
          <p:cNvSpPr/>
          <p:nvPr/>
        </p:nvSpPr>
        <p:spPr>
          <a:xfrm>
            <a:off x="1783080" y="187452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36" y="2093976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issuance &amp; on demand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1520" y="393192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 is fingerprinted the moment it’s issued (convocation / result declaration), and can be verified instantly at any point afterward.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B2A4A"/>
          </a:solidFill>
          <a:ln/>
        </p:spPr>
      </p:sp>
      <p:sp>
        <p:nvSpPr>
          <p:cNvPr id="13" name="Shape 9"/>
          <p:cNvSpPr/>
          <p:nvPr/>
        </p:nvSpPr>
        <p:spPr>
          <a:xfrm>
            <a:off x="5623560" y="187452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209397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200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web-based portal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572000" y="393192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issuer dashboard for institutions and a public verifier lookup, accessible from anywhere with internet — no institutional visit required.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B2A4A"/>
          </a:solidFill>
          <a:ln/>
        </p:spPr>
      </p:sp>
      <p:sp>
        <p:nvSpPr>
          <p:cNvPr id="19" name="Shape 14"/>
          <p:cNvSpPr/>
          <p:nvPr/>
        </p:nvSpPr>
        <p:spPr>
          <a:xfrm>
            <a:off x="9464040" y="187452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496" y="2093976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41248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stakeholders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412480" y="393192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(issuers), employers &amp; foreign universities (verifiers), and students &amp; alumni (credential holders).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86868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develop a tamper-evident, hash-chain based academic certificate verification system that lets institutions issue cryptographically secured certificates, and lets any third party verify their authenticity instantly and independently — without relying on slow manual institutional confirmation — thereby curbing certificate fraud and restoring trust in credential verification.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5623560"/>
            <a:ext cx="7955280" cy="502920"/>
          </a:xfrm>
          <a:prstGeom prst="roundRect">
            <a:avLst>
              <a:gd name="adj" fmla="val 50909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5623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Blockchain  ·  PS-03: Blockchain-Based Academic Certificate Verification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 — issuance to verification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8013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Issuer 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2402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enters certificate data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51760" y="2249424"/>
            <a:ext cx="274320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971800" y="16916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8960" y="18013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Issuance API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108960" y="2240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engine (Spring Boot)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2249424"/>
            <a:ext cx="274320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6126480" y="16916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C9A227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801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Hash-Chain Ledger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364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store, each block references the last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41080" y="2249424"/>
            <a:ext cx="274320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8961120" y="169164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+ Certificate ID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09828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on the issued document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78624" y="3017520"/>
            <a:ext cx="164592" cy="1325880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10250424" y="3017520"/>
            <a:ext cx="164592" cy="1325880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23" name="Shape 20"/>
          <p:cNvSpPr/>
          <p:nvPr/>
        </p:nvSpPr>
        <p:spPr>
          <a:xfrm>
            <a:off x="2971800" y="4389120"/>
            <a:ext cx="873252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08960" y="4498848"/>
            <a:ext cx="845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Verifier Portal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108960" y="4937760"/>
            <a:ext cx="845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 — scan QR or enter ID: recomputes the hash and compares it against the ledger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078224" y="5836920"/>
            <a:ext cx="164592" cy="121920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33" name="Shape 30"/>
          <p:cNvSpPr/>
          <p:nvPr/>
        </p:nvSpPr>
        <p:spPr>
          <a:xfrm>
            <a:off x="6021324" y="5836920"/>
            <a:ext cx="164592" cy="121920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34" name="Shape 31"/>
          <p:cNvSpPr/>
          <p:nvPr/>
        </p:nvSpPr>
        <p:spPr>
          <a:xfrm>
            <a:off x="7964424" y="5836920"/>
            <a:ext cx="164592" cy="121920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3291840" y="5989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7" name="Text 24"/>
          <p:cNvSpPr/>
          <p:nvPr/>
        </p:nvSpPr>
        <p:spPr>
          <a:xfrm>
            <a:off x="3291840" y="5989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166360" y="598932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A6402C"/>
          </a:solidFill>
          <a:ln/>
        </p:spPr>
      </p:sp>
      <p:sp>
        <p:nvSpPr>
          <p:cNvPr id="29" name="Text 26"/>
          <p:cNvSpPr/>
          <p:nvPr/>
        </p:nvSpPr>
        <p:spPr>
          <a:xfrm>
            <a:off x="5166360" y="5989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Tampered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178040" y="5989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31" name="Text 28"/>
          <p:cNvSpPr/>
          <p:nvPr/>
        </p:nvSpPr>
        <p:spPr>
          <a:xfrm>
            <a:off x="7178040" y="5989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Not Found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 non-functional requirements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19147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105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22960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issuance API — create record, compute hash, append to chain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 API — lookup by ID / QR, recompute &amp; match hash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dashboard — bulk issue, search, revoke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generation, one per certificate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Tamper-detection flag on any hash mismatch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4" y="19147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8105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629400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response time under 2 seconds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property: any single-field edit changes the hash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verifier access requires no institution login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Bulk-issuance support for a full convocation batch (1000+)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Issuer-side writes authenticated; public side is read-only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Planning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Structure — Semester V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85623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468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Planning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85800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85800" y="3108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hash-chain schema, API contracts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70248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98848" y="18288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1"/>
          <p:cNvSpPr/>
          <p:nvPr/>
        </p:nvSpPr>
        <p:spPr>
          <a:xfrm>
            <a:off x="449884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8562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98848" y="2468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Ledger Logic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98848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3–5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498848" y="3108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issuance service, SHA-256 chaining, integrity checks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083296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11896" y="18288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17"/>
          <p:cNvSpPr/>
          <p:nvPr/>
        </p:nvSpPr>
        <p:spPr>
          <a:xfrm>
            <a:off x="831189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185623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11896" y="2468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Dashboards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311896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4–6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311896" y="3108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dashboard + public verifier portal (React)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57200" y="40233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85800" y="42519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3"/>
          <p:cNvSpPr/>
          <p:nvPr/>
        </p:nvSpPr>
        <p:spPr>
          <a:xfrm>
            <a:off x="6858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4279392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5800" y="4892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Integration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685800" y="5257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85800" y="5532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 embedding and QR generation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270248" y="40233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498848" y="42519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Text 29"/>
          <p:cNvSpPr/>
          <p:nvPr/>
        </p:nvSpPr>
        <p:spPr>
          <a:xfrm>
            <a:off x="449884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328" y="4279392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498848" y="4892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Tamper Simulation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4498848" y="5257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498848" y="5532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Edit-and-detect tests, bulk-load testing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8083296" y="40233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6F3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311896" y="42519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3" name="Text 35"/>
          <p:cNvSpPr/>
          <p:nvPr/>
        </p:nvSpPr>
        <p:spPr>
          <a:xfrm>
            <a:off x="8311896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9376" y="4279392"/>
            <a:ext cx="457200" cy="45720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311896" y="4892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Demo, Docs &amp; Review</a:t>
            </a:r>
            <a:endParaRPr lang="en-US" sz="1350" dirty="0"/>
          </a:p>
        </p:txBody>
      </p:sp>
      <p:sp>
        <p:nvSpPr>
          <p:cNvPr id="46" name="Text 37"/>
          <p:cNvSpPr/>
          <p:nvPr/>
        </p:nvSpPr>
        <p:spPr>
          <a:xfrm>
            <a:off x="8311896" y="5257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8311896" y="5532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walkthrough, documentation, midterm/end review prep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&amp; Budget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tools and approximate cost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6309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Tools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234086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2128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</a:t>
            </a:r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Issuance &amp; verification backend APIs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290779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7797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</a:t>
            </a:r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Issuer dashboard and public verifier portal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47472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34670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H2  </a:t>
            </a:r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Append-only ledger storage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404164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39136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(built-in crypto libs)  </a:t>
            </a:r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Certificate hashing &amp; integrity check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" y="460857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4480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library (Node.js)  </a:t>
            </a:r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Certificate ID / QR generation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517550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5047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Postman  </a:t>
            </a:r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Version control and API testing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949440" y="1554480"/>
            <a:ext cx="4800600" cy="201168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BUDGET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20574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– 500</a:t>
            </a:r>
            <a:endParaRPr lang="en-US" sz="4600" dirty="0"/>
          </a:p>
        </p:txBody>
      </p:sp>
      <p:sp>
        <p:nvSpPr>
          <p:cNvPr id="23" name="Text 20"/>
          <p:cNvSpPr/>
          <p:nvPr/>
        </p:nvSpPr>
        <p:spPr>
          <a:xfrm>
            <a:off x="7178040" y="30175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open-source stack; optional free-tier hosting (Render / Vercel / Railway)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949440" y="3794760"/>
            <a:ext cx="4800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23760" y="40233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61" y="4144061"/>
            <a:ext cx="261518" cy="26151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863840" y="4041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223760" y="4663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hardware required — existing development laptops are sufficient for the full build and demo.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risks, likelihood, impact and mitigation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00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126480" y="1600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1600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23544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11274552" cy="777240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05740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 edge cases (collision handling)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29057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22905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26680" y="229057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A6402C"/>
          </a:solidFill>
          <a:ln/>
        </p:spPr>
      </p:sp>
      <p:sp>
        <p:nvSpPr>
          <p:cNvPr id="16" name="Text 13"/>
          <p:cNvSpPr/>
          <p:nvPr/>
        </p:nvSpPr>
        <p:spPr>
          <a:xfrm>
            <a:off x="7726680" y="22905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235440" y="2057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standard, well-tested SHA-256 libraries; unit-test boundary cases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2834640"/>
            <a:ext cx="1127455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283464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toward full blockchain (Ganache/Solidity)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306781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21" name="Text 18"/>
          <p:cNvSpPr/>
          <p:nvPr/>
        </p:nvSpPr>
        <p:spPr>
          <a:xfrm>
            <a:off x="6172200" y="30678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726680" y="306781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23" name="Text 20"/>
          <p:cNvSpPr/>
          <p:nvPr/>
        </p:nvSpPr>
        <p:spPr>
          <a:xfrm>
            <a:off x="7726680" y="30678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23544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scope to hash-chain MVP; document trade-off up front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3611880"/>
            <a:ext cx="11274552" cy="777240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36118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Bulk-issuance performance bottleneck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72200" y="384505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38450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726680" y="384505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30" name="Text 27"/>
          <p:cNvSpPr/>
          <p:nvPr/>
        </p:nvSpPr>
        <p:spPr>
          <a:xfrm>
            <a:off x="7726680" y="38450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23544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with indexed DB queries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7200" y="4389120"/>
            <a:ext cx="1127455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438912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coordination across coursework load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172200" y="462229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35" name="Text 32"/>
          <p:cNvSpPr/>
          <p:nvPr/>
        </p:nvSpPr>
        <p:spPr>
          <a:xfrm>
            <a:off x="6172200" y="46222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726680" y="462229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37" name="Text 34"/>
          <p:cNvSpPr/>
          <p:nvPr/>
        </p:nvSpPr>
        <p:spPr>
          <a:xfrm>
            <a:off x="7726680" y="46222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9235440" y="4389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WBS ownership per member; short weekly syncs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57200" y="5166360"/>
            <a:ext cx="11274552" cy="777240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40" name="Text 37"/>
          <p:cNvSpPr/>
          <p:nvPr/>
        </p:nvSpPr>
        <p:spPr>
          <a:xfrm>
            <a:off x="594360" y="51663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institutional adoption resistance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172200" y="539953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42" name="Text 39"/>
          <p:cNvSpPr/>
          <p:nvPr/>
        </p:nvSpPr>
        <p:spPr>
          <a:xfrm>
            <a:off x="6172200" y="53995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726680" y="539953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44" name="Text 41"/>
          <p:cNvSpPr/>
          <p:nvPr/>
        </p:nvSpPr>
        <p:spPr>
          <a:xfrm>
            <a:off x="7726680" y="53995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9235440" y="5166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as a working pilot/demo, not a deployment claim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599846"/>
            <a:ext cx="309067" cy="3090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43400" y="14173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fraud and slow manual verification erode trust and waste time for institutions, employers and genuine graduates alike.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6243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43400" y="262432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hash-chain based issuance system paired with an instant, public verification portal — no institutional back-and-forth required.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831336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It’s Feasible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43400" y="3831336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an open-source stack the team already knows (Spring Boot + React), near-zero budget, deployable within this semester’s timeline.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5038344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— Semester VI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43400" y="5038344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multi-issuer network, add employer-side bulk verification, explore blockchain anchoring, and integrate with the DigiLocker / National Academic Depository ecosystem.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2026-09-10T14:56:01Z</dcterms:created>
  <dcterms:modified xsi:type="dcterms:W3CDTF">2026-09-10T14:56:01Z</dcterms:modified>
</cp:coreProperties>
</file>